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8356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1775" y="0"/>
            <a:ext cx="5610225" cy="6858000"/>
          </a:xfrm>
          <a:prstGeom prst="rect">
            <a:avLst/>
          </a:prstGeom>
          <a:solidFill>
            <a:srgbClr val="FBFCF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040761" y="1963192"/>
            <a:ext cx="461769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13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MASAKU • KENYA • 2026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7040761" y="2282279"/>
            <a:ext cx="4617690" cy="119151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5100" b="1" spc="-112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VENQUERE</a:t>
            </a:r>
            <a:pPr indent="0" marL="0">
              <a:buNone/>
            </a:pPr>
            <a:r>
              <a:rPr lang="en-US" sz="5100" b="1" spc="-112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STARTUP</a:t>
            </a:r>
            <a:endParaRPr lang="en-US" sz="5100" dirty="0"/>
          </a:p>
        </p:txBody>
      </p:sp>
      <p:sp>
        <p:nvSpPr>
          <p:cNvPr id="6" name="Text 3"/>
          <p:cNvSpPr txBox="1"/>
          <p:nvPr/>
        </p:nvSpPr>
        <p:spPr>
          <a:xfrm>
            <a:off x="7040761" y="3673822"/>
            <a:ext cx="3429000" cy="4875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Bef>
                <a:spcPts val="1500"/>
              </a:spcBef>
              <a:buNone/>
            </a:pPr>
            <a:r>
              <a:rPr lang="en-US" sz="1350" dirty="0">
                <a:solidFill>
                  <a:srgbClr val="54696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Empowering small businesses in Africa with smart financial tools.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193161" y="4418558"/>
            <a:ext cx="446529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950"/>
              </a:spcBef>
              <a:buNone/>
            </a:pPr>
            <a:r>
              <a:rPr lang="en-US" sz="105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Venquere Sunday — Founder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761" y="4480471"/>
            <a:ext cx="57150" cy="571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38975" y="44767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038975" y="4876800"/>
            <a:ext cx="609600" cy="28575"/>
          </a:xfrm>
          <a:prstGeom prst="roundRect">
            <a:avLst>
              <a:gd name="adj" fmla="val 66667"/>
            </a:avLst>
          </a:prstGeom>
          <a:solidFill>
            <a:srgbClr val="018F8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651397"/>
            <a:ext cx="109728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800"/>
              </a:spcAft>
              <a:buNone/>
            </a:pPr>
            <a:r>
              <a:rPr lang="en-US" sz="900" b="1" spc="162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— KENYA SME REALITY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041922"/>
            <a:ext cx="6046440" cy="10114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50"/>
              </a:lnSpc>
              <a:buNone/>
            </a:pPr>
            <a:r>
              <a:rPr lang="en-US" sz="8850" b="1" spc="-225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78%</a:t>
            </a:r>
            <a:pPr indent="0" marL="0">
              <a:buNone/>
            </a:pPr>
            <a:r>
              <a:rPr lang="en-US" sz="3150" b="1" spc="-225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↑</a:t>
            </a:r>
            <a:endParaRPr lang="en-US" sz="88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224808"/>
            <a:ext cx="5334000" cy="13577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4"/>
              </a:lnSpc>
              <a:spcBef>
                <a:spcPts val="1350"/>
              </a:spcBef>
              <a:buNone/>
            </a:pPr>
            <a:r>
              <a:rPr lang="en-US" sz="3300" b="1" spc="-75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SMEs in Kenya </a:t>
            </a:r>
            <a:pPr indent="0" marL="0">
              <a:buNone/>
            </a:pPr>
            <a:r>
              <a:rPr lang="en-US" sz="3300" b="1" spc="-75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 to track daily expenses</a:t>
            </a:r>
            <a:pPr indent="0" marL="0">
              <a:buNone/>
            </a:pPr>
            <a:r>
              <a:rPr lang="en-US" sz="3300" b="1" spc="-75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collapse within 2 years.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887367"/>
            <a:ext cx="4953000" cy="3286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600" y="5039767"/>
            <a:ext cx="49530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2400"/>
              </a:spcBef>
              <a:buNone/>
            </a:pPr>
            <a:r>
              <a:rPr lang="en-US" sz="975" dirty="0">
                <a:solidFill>
                  <a:srgbClr val="70827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Cash-based hustles have no records. No records → no loans, no growth, no clarity.</a:t>
            </a:r>
            <a:endParaRPr lang="en-US" sz="9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40" y="2118122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33791" y="2184797"/>
            <a:ext cx="222349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₿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589490" y="2127647"/>
            <a:ext cx="3992910" cy="694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Cash-based businesses</a:t>
            </a:r>
            <a:pPr indent="0" marL="0">
              <a:buNone/>
            </a:pPr>
            <a:r>
              <a:rPr lang="en-US" sz="12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rely on memory and torn notebooks. No digital financial records to prove performance.</a:t>
            </a:r>
            <a:endParaRPr lang="en-US" sz="127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240" y="2993678"/>
            <a:ext cx="342900" cy="342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61027" y="3060353"/>
            <a:ext cx="195114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589490" y="3003203"/>
            <a:ext cx="3992910" cy="45987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affordable tools.</a:t>
            </a:r>
            <a:pPr indent="0" marL="0">
              <a:buNone/>
            </a:pPr>
            <a:r>
              <a:rPr lang="en-US" sz="12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QuickBooks is $20/mo and complex. Excel is manual, not mobile, no Swahili.</a:t>
            </a:r>
            <a:endParaRPr lang="en-US" sz="127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240" y="3634532"/>
            <a:ext cx="342900" cy="3429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240488" y="3701207"/>
            <a:ext cx="215652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7589490" y="3644057"/>
            <a:ext cx="3992910" cy="45987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to poor decisions,</a:t>
            </a:r>
            <a:pPr indent="0" marL="0">
              <a:buNone/>
            </a:pPr>
            <a:r>
              <a:rPr lang="en-US" sz="12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loan rejections by SACCOs &amp; banks, overstocking, and business failure.</a:t>
            </a:r>
            <a:endParaRPr lang="en-US" sz="127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240" y="4275386"/>
            <a:ext cx="342900" cy="3429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238554" y="4342061"/>
            <a:ext cx="217587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◐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7589490" y="4284911"/>
            <a:ext cx="3992910" cy="694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Hustlers work hard</a:t>
            </a:r>
            <a:pPr indent="0" marL="0">
              <a:buNone/>
            </a:pPr>
            <a:r>
              <a:rPr lang="en-US" sz="12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but stay blind. Mama mboga doesn't know if she made KES 200 or lost KES 100 today.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90525"/>
            <a:ext cx="112776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 — VENQUERE ECOSYSTEM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363"/>
            <a:ext cx="6477000" cy="1200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Lightweight, mobile-first tools </a:t>
            </a:r>
            <a:pPr indent="0" marL="0">
              <a:buNone/>
            </a:pPr>
            <a:r>
              <a:rPr lang="en-US" sz="300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built for the hustle</a:t>
            </a:r>
            <a:pPr indent="0" marL="0"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not Silicon Valley.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6912"/>
            <a:ext cx="5780633" cy="45100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83" y="1852612"/>
            <a:ext cx="5420618" cy="125343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408" y="2109788"/>
            <a:ext cx="304800" cy="3048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740426" y="2157413"/>
            <a:ext cx="211782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◫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647408" y="2471738"/>
            <a:ext cx="494436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Tracker — 2 taps to record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6647408" y="2688878"/>
            <a:ext cx="494436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 vs Expenses dashboard. Add sale, stock, rent in seconds. Works with 2G.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83" y="2972693"/>
            <a:ext cx="2757934" cy="141342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408" y="3229868"/>
            <a:ext cx="304800" cy="3048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749207" y="3277493"/>
            <a:ext cx="203002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6647408" y="3591818"/>
            <a:ext cx="2281684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Swahili, English &amp; Sheng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6647408" y="3808958"/>
            <a:ext cx="2281684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"Leo umetumia mingi kwa stock" — insights they trust.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1967" y="2972693"/>
            <a:ext cx="2757934" cy="1413421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0092" y="3229868"/>
            <a:ext cx="304800" cy="3048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9416355" y="3277493"/>
            <a:ext cx="198537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◐</a:t>
            </a:r>
            <a:endParaRPr lang="en-US" sz="1200" dirty="0"/>
          </a:p>
        </p:txBody>
      </p:sp>
      <p:sp>
        <p:nvSpPr>
          <p:cNvPr id="18" name="Text 9"/>
          <p:cNvSpPr txBox="1"/>
          <p:nvPr/>
        </p:nvSpPr>
        <p:spPr>
          <a:xfrm>
            <a:off x="9310092" y="3591818"/>
            <a:ext cx="2281684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Offline-first</a:t>
            </a:r>
            <a:endParaRPr lang="en-US" sz="1050" dirty="0"/>
          </a:p>
        </p:txBody>
      </p:sp>
      <p:sp>
        <p:nvSpPr>
          <p:cNvPr id="19" name="Text 10"/>
          <p:cNvSpPr txBox="1"/>
          <p:nvPr/>
        </p:nvSpPr>
        <p:spPr>
          <a:xfrm>
            <a:off x="9310092" y="3808958"/>
            <a:ext cx="2281684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Bila bundles. Sync later. Built for low connectivity.</a:t>
            </a:r>
            <a:endParaRPr lang="en-US" sz="9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283" y="4252764"/>
            <a:ext cx="2757934" cy="1413421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408" y="4509939"/>
            <a:ext cx="304800" cy="3048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755606" y="4557564"/>
            <a:ext cx="196602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</a:t>
            </a:r>
            <a:endParaRPr lang="en-US" sz="1200" dirty="0"/>
          </a:p>
        </p:txBody>
      </p:sp>
      <p:sp>
        <p:nvSpPr>
          <p:cNvPr id="23" name="Text 12"/>
          <p:cNvSpPr txBox="1"/>
          <p:nvPr/>
        </p:nvSpPr>
        <p:spPr>
          <a:xfrm>
            <a:off x="6647408" y="4871889"/>
            <a:ext cx="2281684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050" dirty="0"/>
          </a:p>
        </p:txBody>
      </p:sp>
      <p:sp>
        <p:nvSpPr>
          <p:cNvPr id="24" name="Text 13"/>
          <p:cNvSpPr txBox="1"/>
          <p:nvPr/>
        </p:nvSpPr>
        <p:spPr>
          <a:xfrm>
            <a:off x="6647408" y="5089029"/>
            <a:ext cx="2281684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Mama mboga to shop owner. Free start, KES 299 Pro.</a:t>
            </a:r>
            <a:endParaRPr lang="en-US" sz="900" dirty="0"/>
          </a:p>
        </p:txBody>
      </p:sp>
      <p:sp>
        <p:nvSpPr>
          <p:cNvPr id="25" name="Shape 14"/>
          <p:cNvSpPr/>
          <p:nvPr/>
        </p:nvSpPr>
        <p:spPr>
          <a:xfrm>
            <a:off x="590550" y="6038850"/>
            <a:ext cx="1704975" cy="314325"/>
          </a:xfrm>
          <a:prstGeom prst="roundRect">
            <a:avLst>
              <a:gd name="adj" fmla="val 30303"/>
            </a:avLst>
          </a:prstGeom>
          <a:solidFill>
            <a:srgbClr val="FBFCFA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6155531"/>
            <a:ext cx="66675" cy="6667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04850" y="6162675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6"/>
          <p:cNvSpPr txBox="1"/>
          <p:nvPr/>
        </p:nvSpPr>
        <p:spPr>
          <a:xfrm>
            <a:off x="847725" y="6119813"/>
            <a:ext cx="133558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Masaku market • Live user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524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— BUDGET TRACKER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576263"/>
            <a:ext cx="11125200" cy="854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Clean dashboard that </a:t>
            </a:r>
            <a:pPr indent="0" marL="0">
              <a:buNone/>
            </a:pPr>
            <a:r>
              <a:rPr lang="en-US" sz="330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mama mboga</a:t>
            </a:r>
            <a:pPr indent="0" marL="0">
              <a:buNone/>
            </a:pPr>
            <a:r>
              <a:rPr lang="en-US" sz="33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gets in 5 seconds.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925961"/>
            <a:ext cx="323850" cy="323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3384" y="2997398"/>
            <a:ext cx="213866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◫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971550" y="2925961"/>
            <a:ext cx="3877866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1125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Income vs Expenses at a glance</a:t>
            </a:r>
            <a:endParaRPr lang="en-US" sz="1125" dirty="0"/>
          </a:p>
        </p:txBody>
      </p:sp>
      <p:sp>
        <p:nvSpPr>
          <p:cNvPr id="7" name="Text 4"/>
          <p:cNvSpPr txBox="1"/>
          <p:nvPr/>
        </p:nvSpPr>
        <p:spPr>
          <a:xfrm>
            <a:off x="971550" y="3125986"/>
            <a:ext cx="387786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4D63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Donut + bar + trend on one screen. No clutter, no accounting jargon.</a:t>
            </a:r>
            <a:endParaRPr lang="en-US" sz="97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38823"/>
            <a:ext cx="323850" cy="323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6630" y="3510260"/>
            <a:ext cx="200620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971550" y="3438823"/>
            <a:ext cx="382800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1125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transaction in 2 taps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971550" y="3638848"/>
            <a:ext cx="3828008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4D63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Chap chap: Stock, Rent, Transport, Sales. Even with kiosk gloves on.</a:t>
            </a:r>
            <a:endParaRPr lang="en-US" sz="97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951684"/>
            <a:ext cx="323850" cy="32385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7225" y="4023122"/>
            <a:ext cx="200025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≡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71550" y="3951684"/>
            <a:ext cx="409217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1125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Weekly reports + savings goals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971550" y="4151709"/>
            <a:ext cx="4092178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4D63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"Uko 80% ya goal yako!" Smart nudges in Swahili/Sheng, not English only.</a:t>
            </a:r>
            <a:endParaRPr lang="en-US" sz="975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464546"/>
            <a:ext cx="323850" cy="32385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3384" y="4535984"/>
            <a:ext cx="213866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✦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71550" y="4464546"/>
            <a:ext cx="3896171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1125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Built with VENQUERE gold standard</a:t>
            </a:r>
            <a:endParaRPr lang="en-US" sz="1125" dirty="0"/>
          </a:p>
        </p:txBody>
      </p:sp>
      <p:sp>
        <p:nvSpPr>
          <p:cNvPr id="19" name="Text 13"/>
          <p:cNvSpPr txBox="1"/>
          <p:nvPr/>
        </p:nvSpPr>
        <p:spPr>
          <a:xfrm>
            <a:off x="971550" y="4664571"/>
            <a:ext cx="3896171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4D63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Ornate trust, simple UX. Feels premium, works for low-literacy users.</a:t>
            </a:r>
            <a:endParaRPr lang="en-US" sz="975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015508"/>
            <a:ext cx="820489" cy="29051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8175" y="5091708"/>
            <a:ext cx="61093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18F8E"/>
                </a:solidFill>
                <a:highlight>
                  <a:srgbClr val="E6F4F4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Offline-first</a:t>
            </a:r>
            <a:endParaRPr lang="en-US" sz="825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89" y="5015508"/>
            <a:ext cx="927795" cy="29051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34864" y="5091708"/>
            <a:ext cx="7182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18F8E"/>
                </a:solidFill>
                <a:highlight>
                  <a:srgbClr val="E6F4F4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M-Pesa ready</a:t>
            </a:r>
            <a:endParaRPr lang="en-US" sz="825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4084" y="5015508"/>
            <a:ext cx="995809" cy="29051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2538859" y="5091708"/>
            <a:ext cx="78625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18F8E"/>
                </a:solidFill>
                <a:highlight>
                  <a:srgbClr val="E6F4F4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Swahili + Sheng</a:t>
            </a:r>
            <a:endParaRPr lang="en-US" sz="825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126331"/>
            <a:ext cx="5791200" cy="5731669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5772150"/>
            <a:ext cx="5143500" cy="8001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991350" y="6096000"/>
            <a:ext cx="157653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Today's Profit — Soko Mjinga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10395198" y="6076950"/>
            <a:ext cx="1206252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 850 ▲ 12%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286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OPPORTUNITY — TAM SAM SOM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71513"/>
            <a:ext cx="111252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Massive market </a:t>
            </a:r>
            <a:pPr indent="0" marL="0">
              <a:buNone/>
            </a:pPr>
            <a:r>
              <a:rPr lang="en-US" sz="315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hiding in plain sight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1157288"/>
            <a:ext cx="11125200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596D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40M+ SMEs in East Africa run on memory. Venquere turns memory into money clarity.</a:t>
            </a:r>
            <a:endParaRPr lang="en-US" sz="11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438275"/>
            <a:ext cx="3675608" cy="26431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2000" y="1752600"/>
            <a:ext cx="3018383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$12B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62000" y="2181225"/>
            <a:ext cx="301838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99" kern="0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 — AFRICAN SME FINANCIAL MANAGEMENT</a:t>
            </a:r>
            <a:endParaRPr lang="en-US" sz="825" dirty="0"/>
          </a:p>
        </p:txBody>
      </p:sp>
      <p:sp>
        <p:nvSpPr>
          <p:cNvPr id="8" name="Text 5"/>
          <p:cNvSpPr txBox="1"/>
          <p:nvPr/>
        </p:nvSpPr>
        <p:spPr>
          <a:xfrm>
            <a:off x="762000" y="2424113"/>
            <a:ext cx="3018383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13302B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small businesses needing simple budgeting, reporting &amp; savings tools across continent.</a:t>
            </a:r>
            <a:endParaRPr lang="en-US" sz="97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84884"/>
            <a:ext cx="1412974" cy="27146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7250" y="2951559"/>
            <a:ext cx="122247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Pan-African long term</a:t>
            </a:r>
            <a:endParaRPr lang="en-US" sz="82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458" y="1438275"/>
            <a:ext cx="3675757" cy="26431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42358" y="1752600"/>
            <a:ext cx="3018532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$850M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4342358" y="2181225"/>
            <a:ext cx="301853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99" kern="0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 — KENYA &amp; EAST AFRICA</a:t>
            </a:r>
            <a:endParaRPr lang="en-US" sz="825" dirty="0"/>
          </a:p>
        </p:txBody>
      </p:sp>
      <p:sp>
        <p:nvSpPr>
          <p:cNvPr id="14" name="Text 9"/>
          <p:cNvSpPr txBox="1"/>
          <p:nvPr/>
        </p:nvSpPr>
        <p:spPr>
          <a:xfrm>
            <a:off x="4342358" y="2424113"/>
            <a:ext cx="3018532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13302B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Kenya, TZ, UG, RW focused: mobile-first micro-businesses with M-Pesa usage.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358" y="2884884"/>
            <a:ext cx="1179612" cy="27146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37608" y="2951559"/>
            <a:ext cx="98911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3-year expansion</a:t>
            </a:r>
            <a:endParaRPr lang="en-US" sz="82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965" y="1438275"/>
            <a:ext cx="4192786" cy="513397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265" y="1571625"/>
            <a:ext cx="3964186" cy="486727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865715" y="5490567"/>
            <a:ext cx="3621286" cy="4113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3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 in the field — designed for mama mboga's table</a:t>
            </a:r>
            <a:endParaRPr lang="en-US" sz="1350" dirty="0"/>
          </a:p>
        </p:txBody>
      </p:sp>
      <p:sp>
        <p:nvSpPr>
          <p:cNvPr id="20" name="Text 12"/>
          <p:cNvSpPr txBox="1"/>
          <p:nvPr/>
        </p:nvSpPr>
        <p:spPr>
          <a:xfrm>
            <a:off x="7865715" y="5959078"/>
            <a:ext cx="3621286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charts on cheap Androids, sitting between tomatoes &amp; onions. Built for real market light.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533400" y="4086225"/>
            <a:ext cx="3448050" cy="2362200"/>
          </a:xfrm>
          <a:prstGeom prst="roundRect">
            <a:avLst>
              <a:gd name="adj" fmla="val 7258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14300" dist="19050" dir="5400000">
              <a:srgbClr val="13302B">
                <a:alpha val="4000"/>
              </a:srgbClr>
            </a:outerShdw>
          </a:effectLst>
        </p:spPr>
      </p:sp>
      <p:sp>
        <p:nvSpPr>
          <p:cNvPr id="22" name="Text 14"/>
          <p:cNvSpPr txBox="1"/>
          <p:nvPr/>
        </p:nvSpPr>
        <p:spPr>
          <a:xfrm>
            <a:off x="723900" y="4252913"/>
            <a:ext cx="3066008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75" kern="0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$15M</a:t>
            </a:r>
            <a:endParaRPr lang="en-US" sz="3000" dirty="0"/>
          </a:p>
        </p:txBody>
      </p:sp>
      <p:sp>
        <p:nvSpPr>
          <p:cNvPr id="23" name="Text 15"/>
          <p:cNvSpPr txBox="1"/>
          <p:nvPr/>
        </p:nvSpPr>
        <p:spPr>
          <a:xfrm>
            <a:off x="723900" y="4681538"/>
            <a:ext cx="306600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99" kern="0" dirty="0">
                <a:solidFill>
                  <a:srgbClr val="FBFCFA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 — MASAKU, NAIROBI, MOMBASA</a:t>
            </a:r>
            <a:endParaRPr lang="en-US" sz="825" dirty="0"/>
          </a:p>
        </p:txBody>
      </p:sp>
      <p:sp>
        <p:nvSpPr>
          <p:cNvPr id="24" name="Text 16"/>
          <p:cNvSpPr txBox="1"/>
          <p:nvPr/>
        </p:nvSpPr>
        <p:spPr>
          <a:xfrm>
            <a:off x="723900" y="4924425"/>
            <a:ext cx="3066008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FBFCFA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 wedge: 120K micro-retailers, open-air market traders, boda boda shops. Capturable in 18 months.</a:t>
            </a:r>
            <a:endParaRPr lang="en-US" sz="975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5385197"/>
            <a:ext cx="1437680" cy="27146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9150" y="5451872"/>
            <a:ext cx="124718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◍ Beachhead: 3 counties</a:t>
            </a:r>
            <a:endParaRPr lang="en-US" sz="825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9458" y="3948112"/>
            <a:ext cx="3675757" cy="262413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313783" y="4262438"/>
            <a:ext cx="3047107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spc="-75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40M+</a:t>
            </a:r>
            <a:endParaRPr lang="en-US" sz="2100" dirty="0"/>
          </a:p>
        </p:txBody>
      </p:sp>
      <p:sp>
        <p:nvSpPr>
          <p:cNvPr id="29" name="Text 19"/>
          <p:cNvSpPr txBox="1"/>
          <p:nvPr/>
        </p:nvSpPr>
        <p:spPr>
          <a:xfrm>
            <a:off x="4313783" y="4576763"/>
            <a:ext cx="304710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99" kern="0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SMES NEED THIS NOW</a:t>
            </a:r>
            <a:endParaRPr lang="en-US" sz="825" dirty="0"/>
          </a:p>
        </p:txBody>
      </p:sp>
      <p:sp>
        <p:nvSpPr>
          <p:cNvPr id="30" name="Text 20"/>
          <p:cNvSpPr txBox="1"/>
          <p:nvPr/>
        </p:nvSpPr>
        <p:spPr>
          <a:xfrm>
            <a:off x="4313783" y="4819650"/>
            <a:ext cx="3047107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13302B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offline, no Swahili alternative exists. QuickBooks too complex, Excel not mobile.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2862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MODEL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671513"/>
            <a:ext cx="11201400" cy="4079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3"/>
              </a:lnSpc>
              <a:spcAft>
                <a:spcPts val="900"/>
              </a:spcAft>
              <a:buNone/>
            </a:pPr>
            <a:r>
              <a:rPr lang="en-US" sz="315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How we make money </a:t>
            </a:r>
            <a:pPr indent="0" marL="0">
              <a:buNone/>
            </a:pPr>
            <a:r>
              <a:rPr lang="en-US" sz="315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— built for KES, not dollars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495300" y="1193750"/>
            <a:ext cx="4953000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650"/>
              </a:spcAft>
              <a:buNone/>
            </a:pPr>
            <a:r>
              <a:rPr lang="en-US" sz="1125" dirty="0">
                <a:solidFill>
                  <a:srgbClr val="596D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Freemium that respects hustlers. Start free, grow to Pro when you see value. Low burn, high retention.</a:t>
            </a:r>
            <a:endParaRPr lang="en-US" sz="11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650950"/>
            <a:ext cx="3737967" cy="21492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5325" y="2031950"/>
            <a:ext cx="33099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78" kern="0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975" dirty="0"/>
          </a:p>
        </p:txBody>
      </p:sp>
      <p:sp>
        <p:nvSpPr>
          <p:cNvPr id="7" name="Text 4"/>
          <p:cNvSpPr txBox="1"/>
          <p:nvPr/>
        </p:nvSpPr>
        <p:spPr>
          <a:xfrm>
            <a:off x="695325" y="2341513"/>
            <a:ext cx="3071217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0</a:t>
            </a:r>
            <a:pPr indent="0" marL="0">
              <a:buNone/>
            </a:pPr>
            <a:r>
              <a:rPr lang="en-US" sz="105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mo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04875" y="2741563"/>
            <a:ext cx="286166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100 transactions</a:t>
            </a:r>
            <a:endParaRPr lang="en-US" sz="975" dirty="0"/>
          </a:p>
        </p:txBody>
      </p:sp>
      <p:sp>
        <p:nvSpPr>
          <p:cNvPr id="9" name="Text 6"/>
          <p:cNvSpPr txBox="1"/>
          <p:nvPr/>
        </p:nvSpPr>
        <p:spPr>
          <a:xfrm>
            <a:off x="904875" y="2984897"/>
            <a:ext cx="286166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income vs expenses</a:t>
            </a:r>
            <a:endParaRPr lang="en-US" sz="975" dirty="0"/>
          </a:p>
        </p:txBody>
      </p:sp>
      <p:sp>
        <p:nvSpPr>
          <p:cNvPr id="10" name="Text 7"/>
          <p:cNvSpPr txBox="1"/>
          <p:nvPr/>
        </p:nvSpPr>
        <p:spPr>
          <a:xfrm>
            <a:off x="904875" y="3228231"/>
            <a:ext cx="286166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Swahili &amp; English</a:t>
            </a:r>
            <a:endParaRPr lang="en-US" sz="97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217" y="1384250"/>
            <a:ext cx="4525417" cy="26064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9942" y="2010519"/>
            <a:ext cx="1554212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78" kern="0" dirty="0">
                <a:solidFill>
                  <a:srgbClr val="FBFCFA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— MOST POPULAR</a:t>
            </a:r>
            <a:endParaRPr lang="en-US" sz="97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707" y="1984325"/>
            <a:ext cx="806202" cy="2190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61907" y="2031950"/>
            <a:ext cx="65380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92% want this</a:t>
            </a:r>
            <a:endParaRPr lang="en-US" sz="750" dirty="0"/>
          </a:p>
        </p:txBody>
      </p:sp>
      <p:sp>
        <p:nvSpPr>
          <p:cNvPr id="15" name="Text 10"/>
          <p:cNvSpPr txBox="1"/>
          <p:nvPr/>
        </p:nvSpPr>
        <p:spPr>
          <a:xfrm>
            <a:off x="4299942" y="2336750"/>
            <a:ext cx="3591967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299</a:t>
            </a:r>
            <a:pPr indent="0" marL="0">
              <a:buNone/>
            </a:pPr>
            <a:r>
              <a:rPr lang="en-US" sz="1050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mo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4509492" y="2736800"/>
            <a:ext cx="338241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Unlimited transactions &amp; backup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4509492" y="2980134"/>
            <a:ext cx="338241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reports + savings goals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4509492" y="3223468"/>
            <a:ext cx="338241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Offline-first, M-Pesa ready</a:t>
            </a:r>
            <a:endParaRPr lang="en-US" sz="97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934" y="1650950"/>
            <a:ext cx="3737967" cy="214922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25309" y="2031950"/>
            <a:ext cx="66362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78" kern="0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8425309" y="2341513"/>
            <a:ext cx="3071217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999</a:t>
            </a:r>
            <a:pPr indent="0" marL="0">
              <a:buNone/>
            </a:pPr>
            <a:r>
              <a:rPr lang="en-US" sz="105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mo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8634859" y="2741563"/>
            <a:ext cx="286166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Multi-user + staff accounts</a:t>
            </a:r>
            <a:endParaRPr lang="en-US" sz="975" dirty="0"/>
          </a:p>
        </p:txBody>
      </p:sp>
      <p:sp>
        <p:nvSpPr>
          <p:cNvPr id="23" name="Text 17"/>
          <p:cNvSpPr txBox="1"/>
          <p:nvPr/>
        </p:nvSpPr>
        <p:spPr>
          <a:xfrm>
            <a:off x="8634859" y="2984897"/>
            <a:ext cx="286166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Inventory + M-Pesa API auto-sync</a:t>
            </a:r>
            <a:endParaRPr lang="en-US" sz="975" dirty="0"/>
          </a:p>
        </p:txBody>
      </p:sp>
      <p:sp>
        <p:nvSpPr>
          <p:cNvPr id="24" name="Text 18"/>
          <p:cNvSpPr txBox="1"/>
          <p:nvPr/>
        </p:nvSpPr>
        <p:spPr>
          <a:xfrm>
            <a:off x="8634859" y="3228231"/>
            <a:ext cx="2861667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Priority WhatsApp support</a:t>
            </a:r>
            <a:endParaRPr lang="en-US" sz="975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3781127"/>
            <a:ext cx="5533876" cy="638175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947815"/>
            <a:ext cx="262086" cy="3048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1519" y="3981152"/>
            <a:ext cx="216843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↗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1071711" y="3933527"/>
            <a:ext cx="477649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Future: Financial literacy courses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paid Swahili video lessons, KES 499 per course, 70% margin.</a:t>
            </a:r>
            <a:endParaRPr lang="en-US" sz="975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2526" y="3781127"/>
            <a:ext cx="5534025" cy="638175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501" y="3947815"/>
            <a:ext cx="270421" cy="3048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426845" y="3981152"/>
            <a:ext cx="187077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6747272" y="3933527"/>
            <a:ext cx="4768304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Future: Loan referrals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partner with SACCOs &amp; Branch, earn 3-5% referral on approved loans.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90525"/>
            <a:ext cx="112776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TRACTION — PLP VALIDATED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3413"/>
            <a:ext cx="112776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spcAft>
                <a:spcPts val="1350"/>
              </a:spcAft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From idea to </a:t>
            </a:r>
            <a:pPr indent="0" marL="0">
              <a:buNone/>
            </a:pPr>
            <a:r>
              <a:rPr lang="en-US" sz="300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 users</a:t>
            </a:r>
            <a:pPr indent="0" marL="0"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in Masaku markets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071563"/>
            <a:ext cx="4405015" cy="311556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385888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76325" y="1388269"/>
            <a:ext cx="335726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system finalized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1076325" y="1559719"/>
            <a:ext cx="3357265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VENQUERE gold identity, VS crest, color &amp; type ready for app</a:t>
            </a:r>
            <a:endParaRPr lang="en-US" sz="938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653730"/>
            <a:ext cx="712589" cy="21907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14375" y="3701355"/>
            <a:ext cx="56018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18F8E"/>
                </a:solidFill>
                <a:highlight>
                  <a:srgbClr val="E1F2F1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LOGO DONE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964" y="3653730"/>
            <a:ext cx="853827" cy="21907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03164" y="3701355"/>
            <a:ext cx="7014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18F8E"/>
                </a:solidFill>
                <a:highlight>
                  <a:srgbClr val="E1F2F1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PLP COMPLETE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665" y="1071563"/>
            <a:ext cx="3645843" cy="311556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947940" y="1385888"/>
            <a:ext cx="3055293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50+</a:t>
            </a:r>
            <a:endParaRPr lang="en-US" sz="3150" dirty="0"/>
          </a:p>
        </p:txBody>
      </p:sp>
      <p:sp>
        <p:nvSpPr>
          <p:cNvPr id="14" name="Text 7"/>
          <p:cNvSpPr txBox="1"/>
          <p:nvPr/>
        </p:nvSpPr>
        <p:spPr>
          <a:xfrm>
            <a:off x="4947940" y="1871663"/>
            <a:ext cx="305529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INTERVIEWS IN MASAKU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4947940" y="2109788"/>
            <a:ext cx="3055293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Mama mboga to shop owners</a:t>
            </a:r>
            <a:endParaRPr lang="en-US" sz="1125" dirty="0"/>
          </a:p>
        </p:txBody>
      </p:sp>
      <p:sp>
        <p:nvSpPr>
          <p:cNvPr id="16" name="Text 9"/>
          <p:cNvSpPr txBox="1"/>
          <p:nvPr/>
        </p:nvSpPr>
        <p:spPr>
          <a:xfrm>
            <a:off x="4947940" y="2357438"/>
            <a:ext cx="3055293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13302B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Pain confirmed: manual books, no M-Pesa tracking, loan rejected.</a:t>
            </a:r>
            <a:endParaRPr lang="en-US" sz="938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257" y="1071563"/>
            <a:ext cx="3645694" cy="311556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498532" y="1385888"/>
            <a:ext cx="3055144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22C0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92%</a:t>
            </a:r>
            <a:endParaRPr lang="en-US" sz="3150" dirty="0"/>
          </a:p>
        </p:txBody>
      </p:sp>
      <p:sp>
        <p:nvSpPr>
          <p:cNvPr id="19" name="Text 11"/>
          <p:cNvSpPr txBox="1"/>
          <p:nvPr/>
        </p:nvSpPr>
        <p:spPr>
          <a:xfrm>
            <a:off x="8498532" y="1871663"/>
            <a:ext cx="3055144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BFCFA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WILL PAY FOR PRO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8498532" y="2109788"/>
            <a:ext cx="3055144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299/mo validated</a:t>
            </a:r>
            <a:endParaRPr lang="en-US" sz="1125" dirty="0"/>
          </a:p>
        </p:txBody>
      </p:sp>
      <p:sp>
        <p:nvSpPr>
          <p:cNvPr id="21" name="Text 13"/>
          <p:cNvSpPr txBox="1"/>
          <p:nvPr/>
        </p:nvSpPr>
        <p:spPr>
          <a:xfrm>
            <a:off x="8498532" y="2357438"/>
            <a:ext cx="3055144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FBFCFA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Prototype tested with 15 users. 14 said "nitalipa" — high intent.</a:t>
            </a:r>
            <a:endParaRPr lang="en-US" sz="938" dirty="0"/>
          </a:p>
        </p:txBody>
      </p:sp>
      <p:sp>
        <p:nvSpPr>
          <p:cNvPr id="22" name="Shape 14"/>
          <p:cNvSpPr/>
          <p:nvPr/>
        </p:nvSpPr>
        <p:spPr>
          <a:xfrm>
            <a:off x="8496300" y="2828925"/>
            <a:ext cx="3057525" cy="57150"/>
          </a:xfrm>
          <a:prstGeom prst="roundRect">
            <a:avLst>
              <a:gd name="adj" fmla="val 166667"/>
            </a:avLst>
          </a:prstGeom>
          <a:solidFill>
            <a:srgbClr val="D9EEEE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532" y="2824163"/>
            <a:ext cx="2810619" cy="5715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496300" y="2828925"/>
            <a:ext cx="2809875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4053780"/>
            <a:ext cx="4405015" cy="255657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66725" y="4196655"/>
            <a:ext cx="4157367" cy="227081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2665" y="4053780"/>
            <a:ext cx="7196286" cy="255657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947940" y="4368105"/>
            <a:ext cx="1537097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PLP Milestone journey</a:t>
            </a:r>
            <a:endParaRPr lang="en-US" sz="1125" dirty="0"/>
          </a:p>
        </p:txBody>
      </p:sp>
      <p:sp>
        <p:nvSpPr>
          <p:cNvPr id="29" name="Text 18"/>
          <p:cNvSpPr txBox="1"/>
          <p:nvPr/>
        </p:nvSpPr>
        <p:spPr>
          <a:xfrm>
            <a:off x="11066859" y="4384774"/>
            <a:ext cx="48681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 1-6</a:t>
            </a:r>
            <a:endParaRPr lang="en-US" sz="82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7940" y="4672905"/>
            <a:ext cx="266700" cy="2667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060454" y="4730055"/>
            <a:ext cx="154186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4947940" y="5006280"/>
            <a:ext cx="2125712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4947940" y="5168205"/>
            <a:ext cx="2125712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interviews, problem defined</a:t>
            </a:r>
            <a:endParaRPr lang="en-US" sz="825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7952" y="4672905"/>
            <a:ext cx="266700" cy="26670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7288262" y="4730055"/>
            <a:ext cx="16639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7187952" y="5006280"/>
            <a:ext cx="2125712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7187952" y="5168205"/>
            <a:ext cx="2125712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brand + prototype built</a:t>
            </a:r>
            <a:endParaRPr lang="en-US" sz="825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7964" y="4672905"/>
            <a:ext cx="266700" cy="2667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9526786" y="4730055"/>
            <a:ext cx="167878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9427964" y="5006280"/>
            <a:ext cx="2125712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</a:t>
            </a:r>
            <a:endParaRPr lang="en-US" sz="900" dirty="0"/>
          </a:p>
        </p:txBody>
      </p:sp>
      <p:sp>
        <p:nvSpPr>
          <p:cNvPr id="41" name="Text 27"/>
          <p:cNvSpPr txBox="1"/>
          <p:nvPr/>
        </p:nvSpPr>
        <p:spPr>
          <a:xfrm>
            <a:off x="9427964" y="5168205"/>
            <a:ext cx="2125712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92% pay signal, PLP done</a:t>
            </a:r>
            <a:endParaRPr lang="en-US" sz="825" dirty="0"/>
          </a:p>
        </p:txBody>
      </p:sp>
      <p:sp>
        <p:nvSpPr>
          <p:cNvPr id="42" name="Text 28"/>
          <p:cNvSpPr txBox="1"/>
          <p:nvPr/>
        </p:nvSpPr>
        <p:spPr>
          <a:xfrm>
            <a:off x="638175" y="5691188"/>
            <a:ext cx="3814465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users</a:t>
            </a:r>
            <a:endParaRPr lang="en-US" sz="2100" dirty="0"/>
          </a:p>
        </p:txBody>
      </p:sp>
      <p:sp>
        <p:nvSpPr>
          <p:cNvPr id="43" name="Text 29"/>
          <p:cNvSpPr txBox="1"/>
          <p:nvPr/>
        </p:nvSpPr>
        <p:spPr>
          <a:xfrm>
            <a:off x="638175" y="5957888"/>
            <a:ext cx="381446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Prototype tested live</a:t>
            </a:r>
            <a:endParaRPr lang="en-US" sz="1125" dirty="0"/>
          </a:p>
        </p:txBody>
      </p:sp>
      <p:sp>
        <p:nvSpPr>
          <p:cNvPr id="44" name="Text 30"/>
          <p:cNvSpPr txBox="1"/>
          <p:nvPr/>
        </p:nvSpPr>
        <p:spPr>
          <a:xfrm>
            <a:off x="638175" y="6129338"/>
            <a:ext cx="3814465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Tracker demo on table in Masaku — real feedback loop.</a:t>
            </a:r>
            <a:endParaRPr lang="en-US" sz="9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286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GO-TO-MARKET PLAN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71513"/>
            <a:ext cx="11125200" cy="4079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3"/>
              </a:lnSpc>
              <a:spcAft>
                <a:spcPts val="1500"/>
              </a:spcAft>
              <a:buNone/>
            </a:pPr>
            <a:r>
              <a:rPr lang="en-US" sz="315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 </a:t>
            </a:r>
            <a:pPr indent="0" marL="0">
              <a:buNone/>
            </a:pPr>
            <a:r>
              <a:rPr lang="en-US" sz="315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hyperlocal</a:t>
            </a:r>
            <a:pPr indent="0" marL="0">
              <a:buNone/>
            </a:pPr>
            <a:r>
              <a:rPr lang="en-US" sz="315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in Masaku, scale across Kenya.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69950"/>
            <a:ext cx="6243638" cy="5905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393775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3317" y="1474738"/>
            <a:ext cx="195858" cy="2619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152525" y="1393775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Masaku markets — direct onboarding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152525" y="1572816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Walk the stalls with phone demos. 50 mama mboga/week. Trust beats ads.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55750"/>
            <a:ext cx="6243638" cy="5905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2079575"/>
            <a:ext cx="342900" cy="3429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09179" y="2160538"/>
            <a:ext cx="209996" cy="2619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1152525" y="2079575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WhatsApp groups + Chamas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52525" y="2258616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with existing savings groups. Group admin = evangelist. 70% in chamas.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41550"/>
            <a:ext cx="6243638" cy="59055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765375"/>
            <a:ext cx="342900" cy="3429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07393" y="2846338"/>
            <a:ext cx="211782" cy="2619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1152525" y="2765375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PLP community &amp; campus ambassadors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1152525" y="2944416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Learn alumni in 3 counties. Student interns to teach finance.</a:t>
            </a:r>
            <a:endParaRPr lang="en-US" sz="9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327350"/>
            <a:ext cx="6243638" cy="59055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3451175"/>
            <a:ext cx="342900" cy="3429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04267" y="3532138"/>
            <a:ext cx="214908" cy="2619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2"/>
          <p:cNvSpPr txBox="1"/>
          <p:nvPr/>
        </p:nvSpPr>
        <p:spPr>
          <a:xfrm>
            <a:off x="1152525" y="3451175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Referral: Free month for 3 invites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1152525" y="3630216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Viral loop. KES 0 CAC after first 500. Community-driven growth.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013150"/>
            <a:ext cx="6243638" cy="59055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136975"/>
            <a:ext cx="342900" cy="3429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806202" y="4217938"/>
            <a:ext cx="212973" cy="2619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15"/>
          <p:cNvSpPr txBox="1"/>
          <p:nvPr/>
        </p:nvSpPr>
        <p:spPr>
          <a:xfrm>
            <a:off x="1152525" y="4136975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YouTube &amp; TikTok in Swahili / Sheng</a:t>
            </a:r>
            <a:endParaRPr lang="en-US" sz="1050" dirty="0"/>
          </a:p>
        </p:txBody>
      </p:sp>
      <p:sp>
        <p:nvSpPr>
          <p:cNvPr id="28" name="Text 16"/>
          <p:cNvSpPr txBox="1"/>
          <p:nvPr/>
        </p:nvSpPr>
        <p:spPr>
          <a:xfrm>
            <a:off x="1152525" y="4316016"/>
            <a:ext cx="54816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"Jinsi ya kutrack stock kwa simu" — 2-min tutorials. Education = acquisition.</a:t>
            </a:r>
            <a:endParaRPr lang="en-US" sz="9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3738" y="1269950"/>
            <a:ext cx="4614863" cy="4314676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8038" y="4765477"/>
            <a:ext cx="4386263" cy="70485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7272338" y="4879777"/>
            <a:ext cx="649039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</a:t>
            </a:r>
            <a:endParaRPr lang="en-US" sz="1350" dirty="0"/>
          </a:p>
        </p:txBody>
      </p:sp>
      <p:sp>
        <p:nvSpPr>
          <p:cNvPr id="32" name="Text 18"/>
          <p:cNvSpPr txBox="1"/>
          <p:nvPr/>
        </p:nvSpPr>
        <p:spPr>
          <a:xfrm>
            <a:off x="7272338" y="5203627"/>
            <a:ext cx="64918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COUNTIES Y1</a:t>
            </a:r>
            <a:endParaRPr lang="en-US" sz="750" dirty="0"/>
          </a:p>
        </p:txBody>
      </p:sp>
      <p:sp>
        <p:nvSpPr>
          <p:cNvPr id="33" name="Text 19"/>
          <p:cNvSpPr txBox="1"/>
          <p:nvPr/>
        </p:nvSpPr>
        <p:spPr>
          <a:xfrm>
            <a:off x="8578304" y="4879777"/>
            <a:ext cx="928688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15k+</a:t>
            </a:r>
            <a:endParaRPr lang="en-US" sz="1350" dirty="0"/>
          </a:p>
        </p:txBody>
      </p:sp>
      <p:sp>
        <p:nvSpPr>
          <p:cNvPr id="34" name="Text 20"/>
          <p:cNvSpPr txBox="1"/>
          <p:nvPr/>
        </p:nvSpPr>
        <p:spPr>
          <a:xfrm>
            <a:off x="8578304" y="5203627"/>
            <a:ext cx="92868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REACH</a:t>
            </a:r>
            <a:endParaRPr lang="en-US" sz="750" dirty="0"/>
          </a:p>
        </p:txBody>
      </p:sp>
      <p:sp>
        <p:nvSpPr>
          <p:cNvPr id="35" name="Text 21"/>
          <p:cNvSpPr txBox="1"/>
          <p:nvPr/>
        </p:nvSpPr>
        <p:spPr>
          <a:xfrm>
            <a:off x="10163770" y="4879777"/>
            <a:ext cx="1266230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92%</a:t>
            </a:r>
            <a:endParaRPr lang="en-US" sz="1350" dirty="0"/>
          </a:p>
        </p:txBody>
      </p:sp>
      <p:sp>
        <p:nvSpPr>
          <p:cNvPr id="36" name="Text 22"/>
          <p:cNvSpPr txBox="1"/>
          <p:nvPr/>
        </p:nvSpPr>
        <p:spPr>
          <a:xfrm>
            <a:off x="10163770" y="5203627"/>
            <a:ext cx="126623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SHENG CONTENT WATCH</a:t>
            </a:r>
            <a:endParaRPr lang="en-US" sz="7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3738" y="5698927"/>
            <a:ext cx="2259806" cy="739973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7186613" y="5832277"/>
            <a:ext cx="197405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Channel #1: Offline</a:t>
            </a:r>
            <a:endParaRPr lang="en-US" sz="900" dirty="0"/>
          </a:p>
        </p:txBody>
      </p:sp>
      <p:sp>
        <p:nvSpPr>
          <p:cNvPr id="39" name="Text 24"/>
          <p:cNvSpPr txBox="1"/>
          <p:nvPr/>
        </p:nvSpPr>
        <p:spPr>
          <a:xfrm>
            <a:off x="7186613" y="6032302"/>
            <a:ext cx="1974056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8554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days = demo days. One-to-one conversion 40% in pilot.</a:t>
            </a:r>
            <a:endParaRPr lang="en-US" sz="82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8794" y="5698927"/>
            <a:ext cx="2259806" cy="739973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9541669" y="5832277"/>
            <a:ext cx="197405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Channel #2: Community</a:t>
            </a:r>
            <a:endParaRPr lang="en-US" sz="900" dirty="0"/>
          </a:p>
        </p:txBody>
      </p:sp>
      <p:sp>
        <p:nvSpPr>
          <p:cNvPr id="42" name="Text 26"/>
          <p:cNvSpPr txBox="1"/>
          <p:nvPr/>
        </p:nvSpPr>
        <p:spPr>
          <a:xfrm>
            <a:off x="9541669" y="6032302"/>
            <a:ext cx="1974056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8554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Chama leaders get Business plan free. Network effect built-in.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286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COMPETITION — WHY WE WIN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71513"/>
            <a:ext cx="11125200" cy="4079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3"/>
              </a:lnSpc>
              <a:spcAft>
                <a:spcPts val="1350"/>
              </a:spcAft>
              <a:buNone/>
            </a:pPr>
            <a:r>
              <a:rPr lang="en-US" sz="315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Others built for accountants. </a:t>
            </a:r>
            <a:pPr indent="0" marL="0">
              <a:buNone/>
            </a:pPr>
            <a:r>
              <a:rPr lang="en-US" sz="315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We built for hustlers.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50900"/>
            <a:ext cx="5157788" cy="6247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93775"/>
            <a:ext cx="323850" cy="3238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04863" y="1465213"/>
            <a:ext cx="214313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183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133475" y="1393775"/>
            <a:ext cx="362083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QuickBooks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133475" y="1572816"/>
            <a:ext cx="362083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6D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complex, $20/mo, needs laptop + internet. Not for mama mboga.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746" y="1463278"/>
            <a:ext cx="607516" cy="20002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988421" y="1501378"/>
            <a:ext cx="4741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718380"/>
                </a:solidFill>
                <a:highlight>
                  <a:srgbClr val="ECEEEE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Expensive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89981"/>
            <a:ext cx="5157788" cy="62478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132856"/>
            <a:ext cx="323850" cy="32385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18257" y="2204293"/>
            <a:ext cx="200918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183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1133475" y="2132856"/>
            <a:ext cx="325129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Excel / Paper notebooks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1133475" y="2311896"/>
            <a:ext cx="325129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6D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Manual, no insights, no backup, not mobile. Memory fails daily.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882" y="2202359"/>
            <a:ext cx="472380" cy="20002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123557" y="2240459"/>
            <a:ext cx="33903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718380"/>
                </a:solidFill>
                <a:highlight>
                  <a:srgbClr val="ECEEEE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Manual</a:t>
            </a:r>
            <a:endParaRPr lang="en-US" sz="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729061"/>
            <a:ext cx="5157788" cy="784771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871936"/>
            <a:ext cx="323850" cy="32385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20043" y="2943374"/>
            <a:ext cx="199132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183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</a:t>
            </a:r>
            <a:endParaRPr lang="en-US" sz="1050" dirty="0"/>
          </a:p>
        </p:txBody>
      </p:sp>
      <p:sp>
        <p:nvSpPr>
          <p:cNvPr id="21" name="Text 11"/>
          <p:cNvSpPr txBox="1"/>
          <p:nvPr/>
        </p:nvSpPr>
        <p:spPr>
          <a:xfrm>
            <a:off x="1133475" y="2871936"/>
            <a:ext cx="377190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Other local apps</a:t>
            </a:r>
            <a:endParaRPr lang="en-US" sz="1050" dirty="0"/>
          </a:p>
        </p:txBody>
      </p:sp>
      <p:sp>
        <p:nvSpPr>
          <p:cNvPr id="22" name="Text 12"/>
          <p:cNvSpPr txBox="1"/>
          <p:nvPr/>
        </p:nvSpPr>
        <p:spPr>
          <a:xfrm>
            <a:off x="1133475" y="3050977"/>
            <a:ext cx="3771900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6D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offline mode, English only, no M-Pesa link. Built in Nairobi office, not market.</a:t>
            </a:r>
            <a:endParaRPr lang="en-US" sz="9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9675" y="2949922"/>
            <a:ext cx="509587" cy="3429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086350" y="2988022"/>
            <a:ext cx="376238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718380"/>
                </a:solidFill>
                <a:highlight>
                  <a:srgbClr val="ECEEEE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Not local</a:t>
            </a:r>
            <a:endParaRPr lang="en-US" sz="750" dirty="0"/>
          </a:p>
        </p:txBody>
      </p:sp>
      <p:sp>
        <p:nvSpPr>
          <p:cNvPr id="25" name="Shape 14"/>
          <p:cNvSpPr/>
          <p:nvPr/>
        </p:nvSpPr>
        <p:spPr>
          <a:xfrm>
            <a:off x="5962650" y="1247775"/>
            <a:ext cx="5705475" cy="5191125"/>
          </a:xfrm>
          <a:prstGeom prst="roundRect">
            <a:avLst>
              <a:gd name="adj" fmla="val 4037"/>
            </a:avLst>
          </a:prstGeom>
          <a:solidFill>
            <a:srgbClr val="13302B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6488" y="1460450"/>
            <a:ext cx="381000" cy="3810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681788" y="1478012"/>
            <a:ext cx="2090142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spc="-20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Venquere Advantage</a:t>
            </a:r>
            <a:endParaRPr lang="en-US" sz="1350" dirty="0"/>
          </a:p>
        </p:txBody>
      </p:sp>
      <p:sp>
        <p:nvSpPr>
          <p:cNvPr id="28" name="Text 16"/>
          <p:cNvSpPr txBox="1"/>
          <p:nvPr/>
        </p:nvSpPr>
        <p:spPr>
          <a:xfrm>
            <a:off x="6681788" y="1676102"/>
            <a:ext cx="209014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50" kern="0" dirty="0">
                <a:solidFill>
                  <a:srgbClr val="58554E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STANDARD TRUST • LOCAL FIRST</a:t>
            </a:r>
            <a:endParaRPr lang="en-US" sz="825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6488" y="2031950"/>
            <a:ext cx="2574131" cy="976312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6310313" y="2165300"/>
            <a:ext cx="232648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Local</a:t>
            </a:r>
            <a:endParaRPr lang="en-US" sz="975" dirty="0"/>
          </a:p>
        </p:txBody>
      </p:sp>
      <p:sp>
        <p:nvSpPr>
          <p:cNvPr id="31" name="Text 18"/>
          <p:cNvSpPr txBox="1"/>
          <p:nvPr/>
        </p:nvSpPr>
        <p:spPr>
          <a:xfrm>
            <a:off x="6310313" y="2446288"/>
            <a:ext cx="201870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Swahili, English, Sheng insights made for Masaku markets</a:t>
            </a:r>
            <a:endParaRPr lang="en-US" sz="863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5869" y="2031950"/>
            <a:ext cx="2574131" cy="976312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8979694" y="2165300"/>
            <a:ext cx="232648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Simple</a:t>
            </a:r>
            <a:endParaRPr lang="en-US" sz="975" dirty="0"/>
          </a:p>
        </p:txBody>
      </p:sp>
      <p:sp>
        <p:nvSpPr>
          <p:cNvPr id="34" name="Text 20"/>
          <p:cNvSpPr txBox="1"/>
          <p:nvPr/>
        </p:nvSpPr>
        <p:spPr>
          <a:xfrm>
            <a:off x="8979694" y="2446288"/>
            <a:ext cx="2230636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taps to add sale. 5-second dashboard. No training needed</a:t>
            </a:r>
            <a:endParaRPr lang="en-US" sz="863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6488" y="3103513"/>
            <a:ext cx="2574131" cy="97631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310313" y="3236863"/>
            <a:ext cx="232648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Affordable</a:t>
            </a:r>
            <a:endParaRPr lang="en-US" sz="975" dirty="0"/>
          </a:p>
        </p:txBody>
      </p:sp>
      <p:sp>
        <p:nvSpPr>
          <p:cNvPr id="37" name="Text 22"/>
          <p:cNvSpPr txBox="1"/>
          <p:nvPr/>
        </p:nvSpPr>
        <p:spPr>
          <a:xfrm>
            <a:off x="6310313" y="3517850"/>
            <a:ext cx="1951434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to start, KES 299 Pro. 1/10 price of QuickBooks</a:t>
            </a:r>
            <a:endParaRPr lang="en-US" sz="863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5869" y="3103513"/>
            <a:ext cx="2574131" cy="976312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8979694" y="3236863"/>
            <a:ext cx="232648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Offline-first</a:t>
            </a:r>
            <a:endParaRPr lang="en-US" sz="975" dirty="0"/>
          </a:p>
        </p:txBody>
      </p:sp>
      <p:sp>
        <p:nvSpPr>
          <p:cNvPr id="40" name="Text 24"/>
          <p:cNvSpPr txBox="1"/>
          <p:nvPr/>
        </p:nvSpPr>
        <p:spPr>
          <a:xfrm>
            <a:off x="8979694" y="3517850"/>
            <a:ext cx="2267099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Bila bundles works. Syncs later. Built for 2G &amp; low-data</a:t>
            </a:r>
            <a:endParaRPr lang="en-US" sz="863" dirty="0"/>
          </a:p>
        </p:txBody>
      </p:sp>
      <p:sp>
        <p:nvSpPr>
          <p:cNvPr id="41" name="Shape 25"/>
          <p:cNvSpPr/>
          <p:nvPr/>
        </p:nvSpPr>
        <p:spPr>
          <a:xfrm>
            <a:off x="6191250" y="5857875"/>
            <a:ext cx="5248275" cy="381000"/>
          </a:xfrm>
          <a:prstGeom prst="roundRect">
            <a:avLst>
              <a:gd name="adj" fmla="val 25000"/>
            </a:avLst>
          </a:prstGeom>
          <a:solidFill>
            <a:srgbClr val="0F433F"/>
          </a:solidFill>
          <a:ln/>
        </p:spPr>
      </p:sp>
      <p:sp>
        <p:nvSpPr>
          <p:cNvPr id="42" name="Text 26"/>
          <p:cNvSpPr txBox="1"/>
          <p:nvPr/>
        </p:nvSpPr>
        <p:spPr>
          <a:xfrm>
            <a:off x="6319838" y="5972175"/>
            <a:ext cx="193476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BFCFA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M-Pesa API • Chama ready • Gold brand</a:t>
            </a:r>
            <a:endParaRPr lang="en-US" sz="825" dirty="0"/>
          </a:p>
        </p:txBody>
      </p:sp>
      <p:sp>
        <p:nvSpPr>
          <p:cNvPr id="43" name="Text 27"/>
          <p:cNvSpPr txBox="1"/>
          <p:nvPr/>
        </p:nvSpPr>
        <p:spPr>
          <a:xfrm>
            <a:off x="10178504" y="5957888"/>
            <a:ext cx="111814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Unfair advantage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0957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TEAM BEHIND VENQUERE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652463"/>
            <a:ext cx="4381500" cy="11769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0"/>
              </a:lnSpc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Designers who </a:t>
            </a:r>
            <a:pPr indent="0" marL="0">
              <a:buNone/>
            </a:pPr>
            <a:r>
              <a:rPr lang="en-US" sz="300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in the market</a:t>
            </a:r>
            <a:pPr indent="0" marL="0"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not just build for it.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700" y="652463"/>
            <a:ext cx="34290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67700" y="652463"/>
            <a:ext cx="3238500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Driven by real experience in Kenyan markets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676995"/>
            <a:ext cx="3157538" cy="340414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181820"/>
            <a:ext cx="419100" cy="4191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69144" y="2286595"/>
            <a:ext cx="297656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57225" y="2705695"/>
            <a:ext cx="23764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FBFCFA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 &amp; PRODUCT DESIGNER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657225" y="2934295"/>
            <a:ext cx="237648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Venquere Sunday</a:t>
            </a:r>
            <a:endParaRPr lang="en-US" sz="1125" dirty="0"/>
          </a:p>
        </p:txBody>
      </p:sp>
      <p:sp>
        <p:nvSpPr>
          <p:cNvPr id="11" name="Text 6"/>
          <p:cNvSpPr txBox="1"/>
          <p:nvPr/>
        </p:nvSpPr>
        <p:spPr>
          <a:xfrm>
            <a:off x="657225" y="3200995"/>
            <a:ext cx="2376488" cy="47997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Logo designer &amp; branding expert. Gold system creator. From Masaku, understands hustle language.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47700" y="3838575"/>
            <a:ext cx="2381250" cy="9525"/>
          </a:xfrm>
          <a:prstGeom prst="rect">
            <a:avLst/>
          </a:prstGeom>
          <a:solidFill>
            <a:srgbClr val="143127">
              <a:alpha val="1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033391"/>
            <a:ext cx="209550" cy="20955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42975" y="4076254"/>
            <a:ext cx="84058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BFCFA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owner • PLP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4338191"/>
            <a:ext cx="1222921" cy="23812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33425" y="4395341"/>
            <a:ext cx="10705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product &amp; vision</a:t>
            </a:r>
            <a:endParaRPr lang="en-US" sz="7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88" y="1886545"/>
            <a:ext cx="2928938" cy="3023146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913" y="2200870"/>
            <a:ext cx="419100" cy="4191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646587" y="2305645"/>
            <a:ext cx="263426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200" dirty="0"/>
          </a:p>
        </p:txBody>
      </p:sp>
      <p:sp>
        <p:nvSpPr>
          <p:cNvPr id="20" name="Text 11"/>
          <p:cNvSpPr txBox="1"/>
          <p:nvPr/>
        </p:nvSpPr>
        <p:spPr>
          <a:xfrm>
            <a:off x="3490913" y="2724745"/>
            <a:ext cx="23764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DEVELOPER</a:t>
            </a:r>
            <a:endParaRPr lang="en-US" sz="750" dirty="0"/>
          </a:p>
        </p:txBody>
      </p:sp>
      <p:sp>
        <p:nvSpPr>
          <p:cNvPr id="21" name="Text 12"/>
          <p:cNvSpPr txBox="1"/>
          <p:nvPr/>
        </p:nvSpPr>
        <p:spPr>
          <a:xfrm>
            <a:off x="3490913" y="2953345"/>
            <a:ext cx="237648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 Lead</a:t>
            </a:r>
            <a:endParaRPr lang="en-US" sz="1125" dirty="0"/>
          </a:p>
        </p:txBody>
      </p:sp>
      <p:sp>
        <p:nvSpPr>
          <p:cNvPr id="22" name="Text 13"/>
          <p:cNvSpPr txBox="1"/>
          <p:nvPr/>
        </p:nvSpPr>
        <p:spPr>
          <a:xfrm>
            <a:off x="3490913" y="3220045"/>
            <a:ext cx="2376488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offline-first build, M-Pesa API, backup. Lightweight APK for 2G.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0913" y="4357241"/>
            <a:ext cx="924520" cy="23812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3567113" y="4414391"/>
            <a:ext cx="77212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5685"/>
              </a:spcBef>
              <a:buNone/>
            </a:pPr>
            <a:r>
              <a:rPr lang="en-US" sz="7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+ M-Pesa</a:t>
            </a:r>
            <a:endParaRPr lang="en-US" sz="7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8375" y="1886545"/>
            <a:ext cx="2928938" cy="3023146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2200870"/>
            <a:ext cx="419100" cy="4191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485483" y="2305645"/>
            <a:ext cx="258217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6324600" y="2724745"/>
            <a:ext cx="23764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ADVISOR</a:t>
            </a:r>
            <a:endParaRPr lang="en-US" sz="750" dirty="0"/>
          </a:p>
        </p:txBody>
      </p:sp>
      <p:sp>
        <p:nvSpPr>
          <p:cNvPr id="29" name="Text 17"/>
          <p:cNvSpPr txBox="1"/>
          <p:nvPr/>
        </p:nvSpPr>
        <p:spPr>
          <a:xfrm>
            <a:off x="6324600" y="2953345"/>
            <a:ext cx="237648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PLP Mentor</a:t>
            </a:r>
            <a:endParaRPr lang="en-US" sz="1125" dirty="0"/>
          </a:p>
        </p:txBody>
      </p:sp>
      <p:sp>
        <p:nvSpPr>
          <p:cNvPr id="30" name="Text 18"/>
          <p:cNvSpPr txBox="1"/>
          <p:nvPr/>
        </p:nvSpPr>
        <p:spPr>
          <a:xfrm>
            <a:off x="6324600" y="3220045"/>
            <a:ext cx="2376488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Pricing, GTM, retention. Connects to SACCOs &amp; fintech partners.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4357241"/>
            <a:ext cx="1042541" cy="23812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400800" y="4414391"/>
            <a:ext cx="8901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5685"/>
              </a:spcBef>
              <a:buNone/>
            </a:pPr>
            <a:r>
              <a:rPr lang="en-US" sz="7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 &amp; Finance</a:t>
            </a:r>
            <a:endParaRPr lang="en-US" sz="7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2063" y="1886545"/>
            <a:ext cx="2928938" cy="3023146"/>
          </a:xfrm>
          <a:prstGeom prst="rect">
            <a:avLst/>
          </a:prstGeom>
        </p:spPr>
      </p:pic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8288" y="2200870"/>
            <a:ext cx="419100" cy="41910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9311580" y="2305645"/>
            <a:ext cx="265807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21"/>
          <p:cNvSpPr txBox="1"/>
          <p:nvPr/>
        </p:nvSpPr>
        <p:spPr>
          <a:xfrm>
            <a:off x="9158288" y="2724745"/>
            <a:ext cx="23764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LEAD</a:t>
            </a:r>
            <a:endParaRPr lang="en-US" sz="750" dirty="0"/>
          </a:p>
        </p:txBody>
      </p:sp>
      <p:sp>
        <p:nvSpPr>
          <p:cNvPr id="37" name="Text 22"/>
          <p:cNvSpPr txBox="1"/>
          <p:nvPr/>
        </p:nvSpPr>
        <p:spPr>
          <a:xfrm>
            <a:off x="9158288" y="2953345"/>
            <a:ext cx="237648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SME Outreach — Eastern Kenya</a:t>
            </a:r>
            <a:endParaRPr lang="en-US" sz="1125" dirty="0"/>
          </a:p>
        </p:txBody>
      </p:sp>
      <p:sp>
        <p:nvSpPr>
          <p:cNvPr id="38" name="Text 23"/>
          <p:cNvSpPr txBox="1"/>
          <p:nvPr/>
        </p:nvSpPr>
        <p:spPr>
          <a:xfrm>
            <a:off x="9158288" y="3220045"/>
            <a:ext cx="2376488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On-ground in Masaku, Machakos, Kitui markets. Speaks Swahili/Sheng, builds trust.</a:t>
            </a:r>
            <a:endParaRPr lang="en-US" sz="90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8288" y="4357241"/>
            <a:ext cx="646956" cy="238125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9234488" y="4414391"/>
            <a:ext cx="49455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5685"/>
              </a:spcBef>
              <a:buNone/>
            </a:pPr>
            <a:r>
              <a:rPr lang="en-US" sz="7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15k+ reach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0957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49" kern="0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PROJECTIONS — 3 YEARS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33413"/>
            <a:ext cx="11125200" cy="3885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Path to </a:t>
            </a:r>
            <a:pPr indent="0" marL="0">
              <a:buNone/>
            </a:pPr>
            <a:r>
              <a:rPr lang="en-US" sz="3000" b="1" spc="-75" kern="0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 95M ARR</a:t>
            </a:r>
            <a:pPr indent="0" marL="0">
              <a:buNone/>
            </a:pPr>
            <a:r>
              <a:rPr lang="en-US" sz="3000" b="1" spc="-75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with low burn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079153"/>
            <a:ext cx="6162675" cy="104060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70856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2013" y="1516112"/>
            <a:ext cx="290513" cy="3119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Y1</a:t>
            </a:r>
            <a:endParaRPr lang="en-US" sz="975" dirty="0"/>
          </a:p>
        </p:txBody>
      </p:sp>
      <p:sp>
        <p:nvSpPr>
          <p:cNvPr id="7" name="Text 3"/>
          <p:cNvSpPr txBox="1"/>
          <p:nvPr/>
        </p:nvSpPr>
        <p:spPr>
          <a:xfrm>
            <a:off x="1438275" y="1345853"/>
            <a:ext cx="428803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39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1 — MASAKU WEDGE</a:t>
            </a:r>
            <a:endParaRPr lang="en-US" sz="975" dirty="0"/>
          </a:p>
        </p:txBody>
      </p:sp>
      <p:sp>
        <p:nvSpPr>
          <p:cNvPr id="8" name="Text 4"/>
          <p:cNvSpPr txBox="1"/>
          <p:nvPr/>
        </p:nvSpPr>
        <p:spPr>
          <a:xfrm>
            <a:off x="1438275" y="1560165"/>
            <a:ext cx="68609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5,000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users</a:t>
            </a:r>
            <a:endParaRPr lang="en-US" sz="938" dirty="0"/>
          </a:p>
        </p:txBody>
      </p:sp>
      <p:sp>
        <p:nvSpPr>
          <p:cNvPr id="9" name="Text 5"/>
          <p:cNvSpPr txBox="1"/>
          <p:nvPr/>
        </p:nvSpPr>
        <p:spPr>
          <a:xfrm>
            <a:off x="2238673" y="1560165"/>
            <a:ext cx="456307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800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</a:t>
            </a:r>
            <a:endParaRPr lang="en-US" sz="938" dirty="0"/>
          </a:p>
        </p:txBody>
      </p:sp>
      <p:sp>
        <p:nvSpPr>
          <p:cNvPr id="10" name="Text 6"/>
          <p:cNvSpPr txBox="1"/>
          <p:nvPr/>
        </p:nvSpPr>
        <p:spPr>
          <a:xfrm>
            <a:off x="2809280" y="1560165"/>
            <a:ext cx="503783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16% conv</a:t>
            </a:r>
            <a:endParaRPr lang="en-US" sz="938" dirty="0"/>
          </a:p>
        </p:txBody>
      </p:sp>
      <p:sp>
        <p:nvSpPr>
          <p:cNvPr id="11" name="Shape 7"/>
          <p:cNvSpPr/>
          <p:nvPr/>
        </p:nvSpPr>
        <p:spPr>
          <a:xfrm>
            <a:off x="1438275" y="1809750"/>
            <a:ext cx="4286250" cy="57150"/>
          </a:xfrm>
          <a:prstGeom prst="roundRect">
            <a:avLst>
              <a:gd name="adj" fmla="val 166667"/>
            </a:avLst>
          </a:prstGeom>
          <a:solidFill>
            <a:srgbClr val="0D3326">
              <a:alpha val="8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1438275" y="1809750"/>
            <a:ext cx="342900" cy="57150"/>
          </a:xfrm>
          <a:prstGeom prst="roundRect">
            <a:avLst>
              <a:gd name="adj" fmla="val 166667"/>
            </a:avLst>
          </a:prstGeom>
          <a:solidFill>
            <a:srgbClr val="018F8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859661" y="1423243"/>
            <a:ext cx="48398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2.8M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5859661" y="1642318"/>
            <a:ext cx="48398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750" spc="60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ARR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2005459"/>
            <a:ext cx="6162675" cy="1040606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29716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9511" y="2442418"/>
            <a:ext cx="303014" cy="3119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Y2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1438275" y="2272159"/>
            <a:ext cx="434846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39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2 — 3 COUNTIES SCALE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1438275" y="2486471"/>
            <a:ext cx="555724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30k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users</a:t>
            </a:r>
            <a:endParaRPr lang="en-US" sz="938" dirty="0"/>
          </a:p>
        </p:txBody>
      </p:sp>
      <p:sp>
        <p:nvSpPr>
          <p:cNvPr id="20" name="Text 14"/>
          <p:cNvSpPr txBox="1"/>
          <p:nvPr/>
        </p:nvSpPr>
        <p:spPr>
          <a:xfrm>
            <a:off x="2108299" y="2486471"/>
            <a:ext cx="569565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6,000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</a:t>
            </a:r>
            <a:endParaRPr lang="en-US" sz="938" dirty="0"/>
          </a:p>
        </p:txBody>
      </p:sp>
      <p:sp>
        <p:nvSpPr>
          <p:cNvPr id="21" name="Text 15"/>
          <p:cNvSpPr txBox="1"/>
          <p:nvPr/>
        </p:nvSpPr>
        <p:spPr>
          <a:xfrm>
            <a:off x="2792164" y="2486471"/>
            <a:ext cx="542776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20% conv</a:t>
            </a:r>
            <a:endParaRPr lang="en-US" sz="938" dirty="0"/>
          </a:p>
        </p:txBody>
      </p:sp>
      <p:sp>
        <p:nvSpPr>
          <p:cNvPr id="22" name="Shape 16"/>
          <p:cNvSpPr/>
          <p:nvPr/>
        </p:nvSpPr>
        <p:spPr>
          <a:xfrm>
            <a:off x="1438275" y="2733675"/>
            <a:ext cx="4352925" cy="57150"/>
          </a:xfrm>
          <a:prstGeom prst="roundRect">
            <a:avLst>
              <a:gd name="adj" fmla="val 166667"/>
            </a:avLst>
          </a:prstGeom>
          <a:solidFill>
            <a:srgbClr val="0D3326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1438275" y="2733675"/>
            <a:ext cx="1390650" cy="57150"/>
          </a:xfrm>
          <a:prstGeom prst="roundRect">
            <a:avLst>
              <a:gd name="adj" fmla="val 166667"/>
            </a:avLst>
          </a:prstGeom>
          <a:solidFill>
            <a:srgbClr val="018F8E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920085" y="2349550"/>
            <a:ext cx="42356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21M</a:t>
            </a:r>
            <a:endParaRPr lang="en-US" sz="1650" dirty="0"/>
          </a:p>
        </p:txBody>
      </p:sp>
      <p:sp>
        <p:nvSpPr>
          <p:cNvPr id="25" name="Text 19"/>
          <p:cNvSpPr txBox="1"/>
          <p:nvPr/>
        </p:nvSpPr>
        <p:spPr>
          <a:xfrm>
            <a:off x="5920085" y="2568625"/>
            <a:ext cx="42356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750" spc="60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ARR</a:t>
            </a:r>
            <a:endParaRPr lang="en-US" sz="7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2931765"/>
            <a:ext cx="6162675" cy="1040606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223468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9511" y="3368725"/>
            <a:ext cx="303014" cy="3119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Y3</a:t>
            </a:r>
            <a:endParaRPr lang="en-US" sz="975" dirty="0"/>
          </a:p>
        </p:txBody>
      </p:sp>
      <p:sp>
        <p:nvSpPr>
          <p:cNvPr id="29" name="Text 21"/>
          <p:cNvSpPr txBox="1"/>
          <p:nvPr/>
        </p:nvSpPr>
        <p:spPr>
          <a:xfrm>
            <a:off x="1438275" y="3198465"/>
            <a:ext cx="433581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39" kern="0" dirty="0">
                <a:solidFill>
                  <a:srgbClr val="FBFCFA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3 — 100K HUSTLERS</a:t>
            </a:r>
            <a:endParaRPr lang="en-US" sz="975" dirty="0"/>
          </a:p>
        </p:txBody>
      </p:sp>
      <p:sp>
        <p:nvSpPr>
          <p:cNvPr id="30" name="Text 22"/>
          <p:cNvSpPr txBox="1"/>
          <p:nvPr/>
        </p:nvSpPr>
        <p:spPr>
          <a:xfrm>
            <a:off x="1438275" y="3412778"/>
            <a:ext cx="611088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100k</a:t>
            </a:r>
            <a:pPr indent="0" marL="0">
              <a:buNone/>
            </a:pPr>
            <a:r>
              <a:rPr lang="en-US" sz="938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users</a:t>
            </a:r>
            <a:endParaRPr lang="en-US" sz="938" dirty="0"/>
          </a:p>
        </p:txBody>
      </p:sp>
      <p:sp>
        <p:nvSpPr>
          <p:cNvPr id="31" name="Text 23"/>
          <p:cNvSpPr txBox="1"/>
          <p:nvPr/>
        </p:nvSpPr>
        <p:spPr>
          <a:xfrm>
            <a:off x="2163663" y="3412778"/>
            <a:ext cx="70857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25k</a:t>
            </a:r>
            <a:pPr indent="0" marL="0">
              <a:buNone/>
            </a:pPr>
            <a:r>
              <a:rPr lang="en-US" sz="938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 + Biz</a:t>
            </a:r>
            <a:endParaRPr lang="en-US" sz="938" dirty="0"/>
          </a:p>
        </p:txBody>
      </p:sp>
      <p:sp>
        <p:nvSpPr>
          <p:cNvPr id="32" name="Shape 24"/>
          <p:cNvSpPr/>
          <p:nvPr/>
        </p:nvSpPr>
        <p:spPr>
          <a:xfrm>
            <a:off x="1438275" y="3657600"/>
            <a:ext cx="4333875" cy="57150"/>
          </a:xfrm>
          <a:prstGeom prst="roundRect">
            <a:avLst>
              <a:gd name="adj" fmla="val 166667"/>
            </a:avLst>
          </a:prstGeom>
          <a:solidFill>
            <a:srgbClr val="0D3326">
              <a:alpha val="8000"/>
            </a:srgbClr>
          </a:solidFill>
          <a:ln/>
        </p:spPr>
      </p:sp>
      <p:sp>
        <p:nvSpPr>
          <p:cNvPr id="33" name="Shape 25"/>
          <p:cNvSpPr/>
          <p:nvPr/>
        </p:nvSpPr>
        <p:spPr>
          <a:xfrm>
            <a:off x="1438275" y="3657600"/>
            <a:ext cx="4333875" cy="57150"/>
          </a:xfrm>
          <a:prstGeom prst="roundRect">
            <a:avLst>
              <a:gd name="adj" fmla="val 166667"/>
            </a:avLst>
          </a:prstGeom>
          <a:solidFill>
            <a:srgbClr val="22C0C7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5907435" y="3275856"/>
            <a:ext cx="43621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95M</a:t>
            </a:r>
            <a:endParaRPr lang="en-US" sz="1650" dirty="0"/>
          </a:p>
        </p:txBody>
      </p:sp>
      <p:sp>
        <p:nvSpPr>
          <p:cNvPr id="35" name="Text 27"/>
          <p:cNvSpPr txBox="1"/>
          <p:nvPr/>
        </p:nvSpPr>
        <p:spPr>
          <a:xfrm>
            <a:off x="5907435" y="3494931"/>
            <a:ext cx="43621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750" spc="60" kern="0" dirty="0">
                <a:solidFill>
                  <a:srgbClr val="FFFFFF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ARR</a:t>
            </a:r>
            <a:endParaRPr lang="en-US" sz="7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91421"/>
            <a:ext cx="1939826" cy="69532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7225" y="4115246"/>
            <a:ext cx="1692027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 299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243905" y="4410521"/>
            <a:ext cx="51866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45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PRICE</a:t>
            </a:r>
            <a:endParaRPr lang="en-US" sz="7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9426" y="3991421"/>
            <a:ext cx="1939975" cy="69532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2673251" y="4115246"/>
            <a:ext cx="169232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85%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3135809" y="4410521"/>
            <a:ext cx="76720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45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GROSS MARGIN</a:t>
            </a:r>
            <a:endParaRPr lang="en-US" sz="75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5600" y="3991421"/>
            <a:ext cx="1939975" cy="69532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4689425" y="4115246"/>
            <a:ext cx="169232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2.1%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5362277" y="4410521"/>
            <a:ext cx="34662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45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</a:t>
            </a:r>
            <a:endParaRPr lang="en-US" sz="75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2275" y="1193453"/>
            <a:ext cx="4886325" cy="1401961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934200" y="1355378"/>
            <a:ext cx="456247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spc="-10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Why this is believable</a:t>
            </a:r>
            <a:endParaRPr lang="en-US" sz="975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4200" y="1580108"/>
            <a:ext cx="190500" cy="1905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996857" y="1608683"/>
            <a:ext cx="11831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750" dirty="0"/>
          </a:p>
        </p:txBody>
      </p:sp>
      <p:sp>
        <p:nvSpPr>
          <p:cNvPr id="49" name="Text 36"/>
          <p:cNvSpPr txBox="1"/>
          <p:nvPr/>
        </p:nvSpPr>
        <p:spPr>
          <a:xfrm>
            <a:off x="7219950" y="1580108"/>
            <a:ext cx="4276725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burn, high retention.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Offline-first = no server cost per user. M-Pesa sync only when needed.</a:t>
            </a:r>
            <a:endParaRPr lang="en-US" sz="9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1976289"/>
            <a:ext cx="190500" cy="19050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996857" y="2004864"/>
            <a:ext cx="11831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750" dirty="0"/>
          </a:p>
        </p:txBody>
      </p:sp>
      <p:sp>
        <p:nvSpPr>
          <p:cNvPr id="52" name="Text 38"/>
          <p:cNvSpPr txBox="1"/>
          <p:nvPr/>
        </p:nvSpPr>
        <p:spPr>
          <a:xfrm>
            <a:off x="7219950" y="1976289"/>
            <a:ext cx="4207966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 tech: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Flutter + Firebase. One dev can support 50k users. No inventory.</a:t>
            </a:r>
            <a:endParaRPr lang="en-US" sz="9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4200" y="2242989"/>
            <a:ext cx="190500" cy="19050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996857" y="2271564"/>
            <a:ext cx="11831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18F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750" dirty="0"/>
          </a:p>
        </p:txBody>
      </p:sp>
      <p:sp>
        <p:nvSpPr>
          <p:cNvPr id="55" name="Text 40"/>
          <p:cNvSpPr txBox="1"/>
          <p:nvPr/>
        </p:nvSpPr>
        <p:spPr>
          <a:xfrm>
            <a:off x="7219950" y="2242989"/>
            <a:ext cx="403294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Viral CAC: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Referral 3 = free month. Chama groups = 15 users per onboarding.</a:t>
            </a:r>
            <a:endParaRPr lang="en-US" sz="900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2275" y="2709714"/>
            <a:ext cx="4886325" cy="1475184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6934200" y="2871639"/>
            <a:ext cx="456247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spc="-10" kern="0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Unit economics — Pro plan</a:t>
            </a:r>
            <a:endParaRPr lang="en-US" sz="975" dirty="0"/>
          </a:p>
        </p:txBody>
      </p:sp>
      <p:sp>
        <p:nvSpPr>
          <p:cNvPr id="58" name="Text 42"/>
          <p:cNvSpPr txBox="1"/>
          <p:nvPr/>
        </p:nvSpPr>
        <p:spPr>
          <a:xfrm>
            <a:off x="6934200" y="3105894"/>
            <a:ext cx="69279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66" kern="0" dirty="0">
                <a:solidFill>
                  <a:srgbClr val="13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ARPU / MO</a:t>
            </a:r>
            <a:endParaRPr lang="en-US" sz="825" dirty="0"/>
          </a:p>
        </p:txBody>
      </p:sp>
      <p:sp>
        <p:nvSpPr>
          <p:cNvPr id="59" name="Text 43"/>
          <p:cNvSpPr txBox="1"/>
          <p:nvPr/>
        </p:nvSpPr>
        <p:spPr>
          <a:xfrm>
            <a:off x="6934200" y="3272582"/>
            <a:ext cx="692795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18F8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 299</a:t>
            </a:r>
            <a:endParaRPr lang="en-US" sz="1350" dirty="0"/>
          </a:p>
        </p:txBody>
      </p:sp>
      <p:sp>
        <p:nvSpPr>
          <p:cNvPr id="60" name="Text 44"/>
          <p:cNvSpPr txBox="1"/>
          <p:nvPr/>
        </p:nvSpPr>
        <p:spPr>
          <a:xfrm>
            <a:off x="8923139" y="3105894"/>
            <a:ext cx="70678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66" kern="0" dirty="0">
                <a:solidFill>
                  <a:srgbClr val="13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</a:t>
            </a:r>
            <a:endParaRPr lang="en-US" sz="825" dirty="0"/>
          </a:p>
        </p:txBody>
      </p:sp>
      <p:sp>
        <p:nvSpPr>
          <p:cNvPr id="61" name="Text 45"/>
          <p:cNvSpPr txBox="1"/>
          <p:nvPr/>
        </p:nvSpPr>
        <p:spPr>
          <a:xfrm>
            <a:off x="8923139" y="3272582"/>
            <a:ext cx="706785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 120</a:t>
            </a:r>
            <a:endParaRPr lang="en-US" sz="1350" dirty="0"/>
          </a:p>
        </p:txBody>
      </p:sp>
      <p:sp>
        <p:nvSpPr>
          <p:cNvPr id="62" name="Text 46"/>
          <p:cNvSpPr txBox="1"/>
          <p:nvPr/>
        </p:nvSpPr>
        <p:spPr>
          <a:xfrm>
            <a:off x="10925919" y="3105894"/>
            <a:ext cx="57075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66" kern="0" dirty="0">
                <a:solidFill>
                  <a:srgbClr val="13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PAYBACK</a:t>
            </a:r>
            <a:endParaRPr lang="en-US" sz="825" dirty="0"/>
          </a:p>
        </p:txBody>
      </p:sp>
      <p:sp>
        <p:nvSpPr>
          <p:cNvPr id="63" name="Text 47"/>
          <p:cNvSpPr txBox="1"/>
          <p:nvPr/>
        </p:nvSpPr>
        <p:spPr>
          <a:xfrm>
            <a:off x="10925919" y="3272582"/>
            <a:ext cx="570756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330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&lt; 1 mo</a:t>
            </a:r>
            <a:endParaRPr lang="en-US" sz="135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4200" y="3625007"/>
            <a:ext cx="4562475" cy="397966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6934200" y="3729782"/>
            <a:ext cx="4562475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50 interviews &amp; 15 prototype tests in Masaku. 92% willingness to pay at KES 299 validated.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4050" y="666750"/>
            <a:ext cx="7239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0" y="745034"/>
            <a:ext cx="571500" cy="571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82059" y="1592759"/>
            <a:ext cx="162788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Aft>
                <a:spcPts val="900"/>
              </a:spcAft>
              <a:buNone/>
            </a:pPr>
            <a:r>
              <a:rPr lang="en-US" sz="825" b="1" spc="149" kern="0" dirty="0">
                <a:solidFill>
                  <a:srgbClr val="22C0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ASK — SEED ROUND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854696"/>
            <a:ext cx="11125051" cy="1028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spc="-112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Raising </a:t>
            </a:r>
            <a:pPr indent="0" marL="0">
              <a:buNone/>
            </a:pPr>
            <a:r>
              <a:rPr lang="en-US" sz="4050" b="1" spc="-112" kern="0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 1.5M</a:t>
            </a:r>
            <a:pPr indent="0" marL="0">
              <a:buNone/>
            </a:pPr>
            <a:r>
              <a:rPr lang="en-US" sz="4050" b="1" spc="-112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to bring clarity to 5,000 hustlers</a:t>
            </a:r>
            <a:endParaRPr lang="en-US" sz="4050" dirty="0"/>
          </a:p>
        </p:txBody>
      </p:sp>
      <p:sp>
        <p:nvSpPr>
          <p:cNvPr id="6" name="Text 3"/>
          <p:cNvSpPr txBox="1"/>
          <p:nvPr/>
        </p:nvSpPr>
        <p:spPr>
          <a:xfrm>
            <a:off x="3620095" y="3035796"/>
            <a:ext cx="1711523" cy="3524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25"/>
              </a:lnSpc>
              <a:spcBef>
                <a:spcPts val="105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 1.5M SEED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23BEC8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18 mo runway • Masaku → Nairobi → Mombasa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635871"/>
            <a:ext cx="3000375" cy="6980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90875" y="3861048"/>
            <a:ext cx="459581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40%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764756" y="3759696"/>
            <a:ext cx="2140744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75" b="1" spc="-10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 Development</a:t>
            </a:r>
            <a:endParaRPr lang="en-US" sz="975" dirty="0"/>
          </a:p>
        </p:txBody>
      </p:sp>
      <p:sp>
        <p:nvSpPr>
          <p:cNvPr id="10" name="Text 6"/>
          <p:cNvSpPr txBox="1"/>
          <p:nvPr/>
        </p:nvSpPr>
        <p:spPr>
          <a:xfrm>
            <a:off x="3764756" y="3927277"/>
            <a:ext cx="2140744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8554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M-Pesa API auto-sync, offline backup, inventory module</a:t>
            </a:r>
            <a:endParaRPr lang="en-US" sz="82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3635871"/>
            <a:ext cx="3000375" cy="6980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86500" y="3861048"/>
            <a:ext cx="447675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30%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848475" y="3759696"/>
            <a:ext cx="21526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75" b="1" spc="-10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Marketing &amp; Acquisition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6848475" y="3927277"/>
            <a:ext cx="2152650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8554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counties launch, market demos, WhatsApp + chama partners</a:t>
            </a:r>
            <a:endParaRPr lang="en-US" sz="82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429125"/>
            <a:ext cx="3000375" cy="69800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190875" y="4654302"/>
            <a:ext cx="434280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739455" y="4552950"/>
            <a:ext cx="216604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75" b="1" spc="-10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Operations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3739455" y="4720530"/>
            <a:ext cx="2166045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8554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lead Eastern Kenya, PLP ambassadors, support</a:t>
            </a:r>
            <a:endParaRPr lang="en-US" sz="82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4429125"/>
            <a:ext cx="3000375" cy="6980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86500" y="4654302"/>
            <a:ext cx="442020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2C0C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842820" y="4552950"/>
            <a:ext cx="215830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50"/>
              </a:spcAft>
              <a:buNone/>
            </a:pPr>
            <a:r>
              <a:rPr lang="en-US" sz="975" b="1" spc="-10" kern="0" dirty="0">
                <a:solidFill>
                  <a:srgbClr val="FBFCF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Legal &amp; Registration</a:t>
            </a:r>
            <a:endParaRPr lang="en-US" sz="975" dirty="0"/>
          </a:p>
        </p:txBody>
      </p:sp>
      <p:sp>
        <p:nvSpPr>
          <p:cNvPr id="22" name="Text 15"/>
          <p:cNvSpPr txBox="1"/>
          <p:nvPr/>
        </p:nvSpPr>
        <p:spPr>
          <a:xfrm>
            <a:off x="6842820" y="4720530"/>
            <a:ext cx="2158305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8554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registration, data protection, contracts</a:t>
            </a:r>
            <a:endParaRPr lang="en-US" sz="825" dirty="0"/>
          </a:p>
        </p:txBody>
      </p:sp>
      <p:sp>
        <p:nvSpPr>
          <p:cNvPr id="23" name="Text 16"/>
          <p:cNvSpPr txBox="1"/>
          <p:nvPr/>
        </p:nvSpPr>
        <p:spPr>
          <a:xfrm>
            <a:off x="3662958" y="5403354"/>
            <a:ext cx="486608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BFCF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Venquere Startup | Masaku, Kenya | venquere.startup@gmail.com | +254 7XX XXX XXX</a:t>
            </a:r>
            <a:endParaRPr lang="en-US" sz="975" dirty="0"/>
          </a:p>
        </p:txBody>
      </p:sp>
      <p:sp>
        <p:nvSpPr>
          <p:cNvPr id="24" name="Text 17"/>
          <p:cNvSpPr txBox="1"/>
          <p:nvPr/>
        </p:nvSpPr>
        <p:spPr>
          <a:xfrm>
            <a:off x="3915370" y="5703391"/>
            <a:ext cx="4361259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FBFC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you! Let's build financial freedom — pamoja. ✦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867400" y="616267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22C0C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VENQUERE-STARTUP-PLP-Pitch-Deck</dc:title>
  <dc:subject>PptxGenJS Presentation</dc:subject>
  <dc:creator>PptxGenJS</dc:creator>
  <cp:lastModifiedBy>PptxGenJS</cp:lastModifiedBy>
  <cp:revision>1</cp:revision>
  <dcterms:created xsi:type="dcterms:W3CDTF">2026-10-12T09:50:05Z</dcterms:created>
  <dcterms:modified xsi:type="dcterms:W3CDTF">2026-10-12T09:50:05Z</dcterms:modified>
</cp:coreProperties>
</file>